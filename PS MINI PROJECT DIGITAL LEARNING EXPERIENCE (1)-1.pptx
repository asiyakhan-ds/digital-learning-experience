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8288000" cy="10287000"/>
  <p:notesSz cx="6858000" cy="9144000"/>
  <p:embeddedFontLst>
    <p:embeddedFont>
      <p:font typeface="Canva Sans" panose="020B0503030501040103" pitchFamily="34" charset="0"/>
      <p:regular r:id="rId17"/>
    </p:embeddedFont>
    <p:embeddedFont>
      <p:font typeface="Canva Sans Bold" panose="020B0803030501040103" pitchFamily="34" charset="0"/>
      <p:regular r:id="rId18"/>
    </p:embeddedFont>
    <p:embeddedFont>
      <p:font typeface="Open Sauce" pitchFamily="2" charset="0"/>
      <p:regular r:id="rId19"/>
    </p:embeddedFont>
    <p:embeddedFont>
      <p:font typeface="Open Sauce Bold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font" Target="fonts/font2.fntdata" /><Relationship Id="rId3" Type="http://schemas.openxmlformats.org/officeDocument/2006/relationships/customXml" Target="../customXml/item3.xml" /><Relationship Id="rId21" Type="http://schemas.openxmlformats.org/officeDocument/2006/relationships/presProps" Target="presProp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font" Target="fonts/font1.fntdata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font" Target="fonts/font4.fntdata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tableStyles" Target="tableStyle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font" Target="fonts/font3.fntdata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5.png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696608"/>
            <a:ext cx="10910528" cy="338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Digital Learning Experience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698616" y="7369021"/>
            <a:ext cx="4560684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sz="2400" b="1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8616" y="7778115"/>
            <a:ext cx="4560684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Ajmat Fatima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Harika Tirandas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Asiya Khan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Alisha Shaikh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962025"/>
            <a:ext cx="9555838" cy="5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331B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Probability &amp; Statistics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57275"/>
            <a:ext cx="284778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767908"/>
            <a:ext cx="16841289" cy="687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975" lvl="1" indent="-344170" algn="l">
              <a:lnSpc>
                <a:spcPts val="4471"/>
              </a:lnSpc>
              <a:buAutoNum type="arabicPeriod"/>
            </a:pPr>
            <a:r>
              <a:rPr lang="en-US" sz="3150" b="1" dirty="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To identify the different digital platforms used by students for learning, skill development, entertainment &amp; personal interest.</a:t>
            </a:r>
            <a:endParaRPr lang="en-US" sz="3150" dirty="0"/>
          </a:p>
          <a:p>
            <a:pPr algn="l">
              <a:lnSpc>
                <a:spcPts val="4471"/>
              </a:lnSpc>
            </a:pPr>
            <a:endParaRPr lang="en-US" sz="3194" b="1">
              <a:solidFill>
                <a:srgbClr val="331B0D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44805" lvl="1">
              <a:lnSpc>
                <a:spcPts val="4471"/>
              </a:lnSpc>
            </a:pPr>
            <a:r>
              <a:rPr lang="en-US" sz="3150" b="1" dirty="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 To identify the major challenges and barriers faced by students while using digital learning methods.</a:t>
            </a:r>
            <a:endParaRPr lang="en-US" sz="3150" b="1" dirty="0">
              <a:solidFill>
                <a:srgbClr val="331B0D"/>
              </a:solidFill>
              <a:latin typeface="Open Sauce Bold"/>
              <a:ea typeface="Open Sauce Bold"/>
              <a:cs typeface="Open Sauce Bold"/>
            </a:endParaRPr>
          </a:p>
          <a:p>
            <a:pPr algn="l">
              <a:lnSpc>
                <a:spcPts val="4471"/>
              </a:lnSpc>
            </a:pPr>
            <a:endParaRPr lang="en-US" sz="3194" b="1">
              <a:solidFill>
                <a:srgbClr val="331B0D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44805" lvl="1">
              <a:lnSpc>
                <a:spcPts val="4471"/>
              </a:lnSpc>
            </a:pPr>
            <a:r>
              <a:rPr lang="en-US" sz="3150" b="1" dirty="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 To </a:t>
            </a:r>
            <a:r>
              <a:rPr lang="en-US" sz="3150" b="1" dirty="0" err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analyse</a:t>
            </a:r>
            <a:r>
              <a:rPr lang="en-US" sz="3150" b="1" dirty="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the effectiveness of digital learning in improving student’s understanding &amp; academic performance.</a:t>
            </a:r>
            <a:endParaRPr lang="en-US" sz="3150" b="1" dirty="0">
              <a:solidFill>
                <a:srgbClr val="331B0D"/>
              </a:solidFill>
              <a:latin typeface="Open Sauce Bold"/>
              <a:ea typeface="Open Sauce Bold"/>
              <a:cs typeface="Open Sauce Bold"/>
            </a:endParaRPr>
          </a:p>
          <a:p>
            <a:pPr marL="344805" lvl="1">
              <a:lnSpc>
                <a:spcPts val="4471"/>
              </a:lnSpc>
            </a:pPr>
            <a:endParaRPr lang="en-US" sz="3150" b="1" dirty="0">
              <a:solidFill>
                <a:srgbClr val="331B0D"/>
              </a:solidFill>
              <a:latin typeface="Open Sauce Bold"/>
              <a:ea typeface="Open Sauce Bold"/>
              <a:cs typeface="Open Sauce Bold"/>
            </a:endParaRPr>
          </a:p>
          <a:p>
            <a:pPr>
              <a:lnSpc>
                <a:spcPts val="4471"/>
              </a:lnSpc>
            </a:pPr>
            <a:r>
              <a:rPr lang="en-US" sz="3150" b="1" dirty="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4. To examine student’s satisfaction &amp; overall experience with digital learning.</a:t>
            </a:r>
            <a:endParaRPr lang="en-US" sz="3194" b="1" dirty="0">
              <a:solidFill>
                <a:srgbClr val="331B0D"/>
              </a:solidFill>
              <a:latin typeface="Open Sauce Bold"/>
              <a:ea typeface="Open Sauce Bold"/>
              <a:cs typeface="Open Sauce Bold"/>
            </a:endParaRPr>
          </a:p>
          <a:p>
            <a:pPr algn="l">
              <a:lnSpc>
                <a:spcPts val="4471"/>
              </a:lnSpc>
            </a:pPr>
            <a:endParaRPr lang="en-US" sz="3194" b="1">
              <a:solidFill>
                <a:srgbClr val="331B0D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71"/>
              </a:lnSpc>
            </a:pPr>
            <a:endParaRPr lang="en-US" sz="3194" b="1">
              <a:solidFill>
                <a:srgbClr val="331B0D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22047"/>
            <a:ext cx="14585766" cy="4958891"/>
          </a:xfrm>
          <a:custGeom>
            <a:avLst/>
            <a:gdLst/>
            <a:ahLst/>
            <a:cxnLst/>
            <a:rect l="l" t="t" r="r" b="b"/>
            <a:pathLst>
              <a:path w="14585766" h="4958891">
                <a:moveTo>
                  <a:pt x="0" y="0"/>
                </a:moveTo>
                <a:lnTo>
                  <a:pt x="14585766" y="0"/>
                </a:lnTo>
                <a:lnTo>
                  <a:pt x="14585766" y="4958890"/>
                </a:lnTo>
                <a:lnTo>
                  <a:pt x="0" y="4958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5" b="-23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516759"/>
            <a:ext cx="8453684" cy="343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 spc="-16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1. Digital learning platforms used by students regularly.</a:t>
            </a:r>
          </a:p>
          <a:p>
            <a:pPr algn="l">
              <a:lnSpc>
                <a:spcPts val="100"/>
              </a:lnSpc>
            </a:pPr>
            <a:endParaRPr lang="en-US" sz="2700" spc="-162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057275"/>
            <a:ext cx="284778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OBJECTIVE-1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302086"/>
            <a:ext cx="44737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INTERPRETATION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812626"/>
            <a:ext cx="14248097" cy="194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0395" lvl="1" indent="-300197" algn="l">
              <a:lnSpc>
                <a:spcPts val="3893"/>
              </a:lnSpc>
              <a:buFont typeface="Arial"/>
              <a:buChar char="•"/>
            </a:pPr>
            <a:r>
              <a:rPr lang="en-US" sz="278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YouTube shows the Highest preference among the surveyed students.</a:t>
            </a:r>
          </a:p>
          <a:p>
            <a:pPr marL="600395" lvl="1" indent="-300197" algn="l">
              <a:lnSpc>
                <a:spcPts val="3893"/>
              </a:lnSpc>
              <a:buFont typeface="Arial"/>
              <a:buChar char="•"/>
            </a:pPr>
            <a:r>
              <a:rPr lang="en-US" sz="278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Google Classroom and Zoom/Google Meet have comparatively low usage</a:t>
            </a:r>
          </a:p>
          <a:p>
            <a:pPr marL="600395" lvl="1" indent="-300197" algn="l">
              <a:lnSpc>
                <a:spcPts val="3893"/>
              </a:lnSpc>
              <a:buFont typeface="Arial"/>
              <a:buChar char="•"/>
            </a:pPr>
            <a:r>
              <a:rPr lang="en-US" sz="278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The result indicate that Students prefer easily accessible platforms like YouTube for digital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445"/>
            <a:ext cx="18288000" cy="7614470"/>
            <a:chOff x="0" y="0"/>
            <a:chExt cx="1811948" cy="754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1948" cy="754430"/>
            </a:xfrm>
            <a:custGeom>
              <a:avLst/>
              <a:gdLst/>
              <a:ahLst/>
              <a:cxnLst/>
              <a:rect l="l" t="t" r="r" b="b"/>
              <a:pathLst>
                <a:path w="1811948" h="754430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066999"/>
            <a:ext cx="13791613" cy="5345975"/>
          </a:xfrm>
          <a:custGeom>
            <a:avLst/>
            <a:gdLst/>
            <a:ahLst/>
            <a:cxnLst/>
            <a:rect l="l" t="t" r="r" b="b"/>
            <a:pathLst>
              <a:path w="13791613" h="5345975">
                <a:moveTo>
                  <a:pt x="0" y="0"/>
                </a:moveTo>
                <a:lnTo>
                  <a:pt x="13791613" y="0"/>
                </a:lnTo>
                <a:lnTo>
                  <a:pt x="13791613" y="5345975"/>
                </a:lnTo>
                <a:lnTo>
                  <a:pt x="0" y="5345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8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522936"/>
            <a:ext cx="10207319" cy="11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8405" lvl="1" indent="-319202" algn="l">
              <a:lnSpc>
                <a:spcPts val="2956"/>
              </a:lnSpc>
              <a:buAutoNum type="arabicPeriod"/>
            </a:pPr>
            <a:r>
              <a:rPr lang="en-US" sz="2956" spc="-177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Mainly used digital learning platforms for by students.</a:t>
            </a:r>
          </a:p>
          <a:p>
            <a:pPr algn="l">
              <a:lnSpc>
                <a:spcPts val="5677"/>
              </a:lnSpc>
            </a:pPr>
            <a:endParaRPr lang="en-US" sz="2956" spc="-177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057275"/>
            <a:ext cx="7342398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OBJECTIVE-1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468319"/>
            <a:ext cx="287050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INTERPRETATION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938954"/>
            <a:ext cx="16721483" cy="1956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489" lvl="1" indent="-236244" algn="l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Academic learning is the primary purpose for using digital learning platforms.</a:t>
            </a:r>
          </a:p>
          <a:p>
            <a:pPr marL="472489" lvl="1" indent="-236244" algn="l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Career and professional skill development is also a major purpose among students.</a:t>
            </a:r>
          </a:p>
          <a:p>
            <a:pPr marL="472489" lvl="1" indent="-236244" algn="l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Personal interest and entertainment have comparatively lower usage.</a:t>
            </a:r>
          </a:p>
          <a:p>
            <a:pPr marL="493406" lvl="1" indent="-246703" algn="l">
              <a:lnSpc>
                <a:spcPts val="3199"/>
              </a:lnSpc>
              <a:buFont typeface="Arial"/>
              <a:buChar char="•"/>
            </a:pPr>
            <a:r>
              <a:rPr lang="en-US" sz="228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Overall, the results indicate that students use digital platforms mainly for educational and skill-development purposes.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609412"/>
            <a:ext cx="8529384" cy="3582091"/>
          </a:xfrm>
          <a:custGeom>
            <a:avLst/>
            <a:gdLst/>
            <a:ahLst/>
            <a:cxnLst/>
            <a:rect l="l" t="t" r="r" b="b"/>
            <a:pathLst>
              <a:path w="8529384" h="3582091">
                <a:moveTo>
                  <a:pt x="0" y="0"/>
                </a:moveTo>
                <a:lnTo>
                  <a:pt x="8529384" y="0"/>
                </a:lnTo>
                <a:lnTo>
                  <a:pt x="8529384" y="3582091"/>
                </a:lnTo>
                <a:lnTo>
                  <a:pt x="0" y="358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5060" y="2271082"/>
            <a:ext cx="7484240" cy="4478148"/>
          </a:xfrm>
          <a:custGeom>
            <a:avLst/>
            <a:gdLst/>
            <a:ahLst/>
            <a:cxnLst/>
            <a:rect l="l" t="t" r="r" b="b"/>
            <a:pathLst>
              <a:path w="7484240" h="4478148">
                <a:moveTo>
                  <a:pt x="0" y="0"/>
                </a:moveTo>
                <a:lnTo>
                  <a:pt x="7484240" y="0"/>
                </a:lnTo>
                <a:lnTo>
                  <a:pt x="7484240" y="4478148"/>
                </a:lnTo>
                <a:lnTo>
                  <a:pt x="0" y="4478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720516"/>
            <a:ext cx="8115300" cy="105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9" lvl="1" indent="-345444" algn="l">
              <a:lnSpc>
                <a:spcPts val="3200"/>
              </a:lnSpc>
              <a:buAutoNum type="arabicPeriod"/>
            </a:pPr>
            <a:r>
              <a:rPr lang="en-US" sz="3200" spc="-19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The biggest challenge that students face.</a:t>
            </a:r>
          </a:p>
          <a:p>
            <a:pPr algn="l">
              <a:lnSpc>
                <a:spcPts val="4800"/>
              </a:lnSpc>
            </a:pPr>
            <a:endParaRPr lang="en-US" sz="3200" spc="-192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57275"/>
            <a:ext cx="7342398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OBJECTIVE-2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522535"/>
            <a:ext cx="2891127" cy="397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INTERPRETATION</a:t>
            </a:r>
            <a:endParaRPr lang="en-US" sz="2400" dirty="0">
              <a:solidFill>
                <a:srgbClr val="8C7753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7233100"/>
            <a:ext cx="10728722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Distraction is the most reported challenge, closely 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  followed by internet &amp; technical issues.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39166" y="8994140"/>
            <a:ext cx="12013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500872"/>
            <a:ext cx="8351816" cy="4501552"/>
          </a:xfrm>
          <a:custGeom>
            <a:avLst/>
            <a:gdLst/>
            <a:ahLst/>
            <a:cxnLst/>
            <a:rect l="l" t="t" r="r" b="b"/>
            <a:pathLst>
              <a:path w="8351816" h="4501552">
                <a:moveTo>
                  <a:pt x="0" y="0"/>
                </a:moveTo>
                <a:lnTo>
                  <a:pt x="8351816" y="0"/>
                </a:lnTo>
                <a:lnTo>
                  <a:pt x="8351816" y="4501553"/>
                </a:lnTo>
                <a:lnTo>
                  <a:pt x="0" y="4501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57475" y="2500872"/>
            <a:ext cx="7701825" cy="4730010"/>
          </a:xfrm>
          <a:custGeom>
            <a:avLst/>
            <a:gdLst/>
            <a:ahLst/>
            <a:cxnLst/>
            <a:rect l="l" t="t" r="r" b="b"/>
            <a:pathLst>
              <a:path w="7701825" h="4730010">
                <a:moveTo>
                  <a:pt x="0" y="0"/>
                </a:moveTo>
                <a:lnTo>
                  <a:pt x="7701825" y="0"/>
                </a:lnTo>
                <a:lnTo>
                  <a:pt x="7701825" y="4730010"/>
                </a:lnTo>
                <a:lnTo>
                  <a:pt x="0" y="4730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714074"/>
            <a:ext cx="12563517" cy="1411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3433" lvl="1" indent="-371717" algn="l">
              <a:lnSpc>
                <a:spcPts val="3443"/>
              </a:lnSpc>
              <a:buAutoNum type="arabicPeriod"/>
            </a:pPr>
            <a:r>
              <a:rPr lang="en-US" sz="3443" spc="-20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Effect of distractions on student’s concentration.</a:t>
            </a:r>
          </a:p>
          <a:p>
            <a:pPr algn="l">
              <a:lnSpc>
                <a:spcPts val="7214"/>
              </a:lnSpc>
            </a:pPr>
            <a:endParaRPr lang="en-US" sz="3443" spc="-206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057275"/>
            <a:ext cx="7342398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OBJECTIVE-2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228601"/>
            <a:ext cx="3543618" cy="468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50" dirty="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INTERPRETATION  </a:t>
            </a:r>
            <a:endParaRPr lang="en-US" sz="2850" dirty="0">
              <a:solidFill>
                <a:srgbClr val="8C7753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7735723"/>
            <a:ext cx="9787493" cy="1175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367030">
              <a:lnSpc>
                <a:spcPts val="4759"/>
              </a:lnSpc>
              <a:buFont typeface="Arial"/>
              <a:buChar char="•"/>
            </a:pPr>
            <a:r>
              <a:rPr lang="en-US" sz="3350" dirty="0">
                <a:solidFill>
                  <a:srgbClr val="331B0D"/>
                </a:solidFill>
                <a:latin typeface="Canva Sans"/>
                <a:ea typeface="Canva Sans"/>
                <a:cs typeface="Canva Sans"/>
                <a:sym typeface="Canva Sans"/>
              </a:rPr>
              <a:t>Most students experience distractions </a:t>
            </a:r>
            <a:r>
              <a:rPr lang="en-US" sz="3350" dirty="0">
                <a:solidFill>
                  <a:srgbClr val="331B0D"/>
                </a:solidFill>
                <a:latin typeface="Open Sauce"/>
                <a:ea typeface="Canva Sans"/>
                <a:cs typeface="Canva Sans"/>
                <a:sym typeface="Canva Sans"/>
              </a:rPr>
              <a:t>to</a:t>
            </a:r>
            <a:r>
              <a:rPr lang="en-US" sz="335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at least to some extent.</a:t>
            </a:r>
            <a:endParaRPr lang="en-US" sz="3350" dirty="0">
              <a:solidFill>
                <a:srgbClr val="331B0D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128569" y="8982863"/>
            <a:ext cx="130731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6572" y="2183339"/>
            <a:ext cx="6206433" cy="5254310"/>
          </a:xfrm>
          <a:custGeom>
            <a:avLst/>
            <a:gdLst/>
            <a:ahLst/>
            <a:cxnLst/>
            <a:rect l="l" t="t" r="r" b="b"/>
            <a:pathLst>
              <a:path w="6206433" h="5254310">
                <a:moveTo>
                  <a:pt x="0" y="0"/>
                </a:moveTo>
                <a:lnTo>
                  <a:pt x="6206433" y="0"/>
                </a:lnTo>
                <a:lnTo>
                  <a:pt x="6206433" y="5254310"/>
                </a:lnTo>
                <a:lnTo>
                  <a:pt x="0" y="5254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24152" y="2183339"/>
            <a:ext cx="9135148" cy="5529882"/>
          </a:xfrm>
          <a:custGeom>
            <a:avLst/>
            <a:gdLst/>
            <a:ahLst/>
            <a:cxnLst/>
            <a:rect l="l" t="t" r="r" b="b"/>
            <a:pathLst>
              <a:path w="9135148" h="5529882">
                <a:moveTo>
                  <a:pt x="0" y="0"/>
                </a:moveTo>
                <a:lnTo>
                  <a:pt x="9135148" y="0"/>
                </a:lnTo>
                <a:lnTo>
                  <a:pt x="9135148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580985"/>
            <a:ext cx="10515610" cy="38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461" lvl="1" indent="-321730" algn="l">
              <a:lnSpc>
                <a:spcPts val="2980"/>
              </a:lnSpc>
              <a:buAutoNum type="arabicPeriod"/>
            </a:pPr>
            <a:r>
              <a:rPr lang="en-US" sz="2980" spc="-17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Digital learning allows to learn at student’s own pace.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057275"/>
            <a:ext cx="7342398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OBJECTIVE-3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3882" y="7684051"/>
            <a:ext cx="3019915" cy="397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INTERPRETATION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04650" y="4920615"/>
            <a:ext cx="78700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39238" y="4920615"/>
            <a:ext cx="9525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28700" y="8222475"/>
            <a:ext cx="13807940" cy="175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913" lvl="1" indent="-274456" algn="l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students agreed that digital learning allows them to learn at their own pace.</a:t>
            </a:r>
          </a:p>
          <a:p>
            <a:pPr marL="548913" lvl="1" indent="-274456" algn="l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that digital learning provides flexibility and supports self-paced learning.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59049" y="8968394"/>
            <a:ext cx="100251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331B0D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774315"/>
            <a:ext cx="7517360" cy="4735345"/>
          </a:xfrm>
          <a:custGeom>
            <a:avLst/>
            <a:gdLst/>
            <a:ahLst/>
            <a:cxnLst/>
            <a:rect l="l" t="t" r="r" b="b"/>
            <a:pathLst>
              <a:path w="7517360" h="4735345">
                <a:moveTo>
                  <a:pt x="0" y="0"/>
                </a:moveTo>
                <a:lnTo>
                  <a:pt x="7517360" y="0"/>
                </a:lnTo>
                <a:lnTo>
                  <a:pt x="7517360" y="4735345"/>
                </a:lnTo>
                <a:lnTo>
                  <a:pt x="0" y="4735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89770" y="2776954"/>
            <a:ext cx="7617692" cy="4680751"/>
          </a:xfrm>
          <a:custGeom>
            <a:avLst/>
            <a:gdLst/>
            <a:ahLst/>
            <a:cxnLst/>
            <a:rect l="l" t="t" r="r" b="b"/>
            <a:pathLst>
              <a:path w="7617692" h="4680751">
                <a:moveTo>
                  <a:pt x="0" y="0"/>
                </a:moveTo>
                <a:lnTo>
                  <a:pt x="7617692" y="0"/>
                </a:lnTo>
                <a:lnTo>
                  <a:pt x="7617692" y="4680751"/>
                </a:lnTo>
                <a:lnTo>
                  <a:pt x="0" y="4680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057275"/>
            <a:ext cx="7342398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OBJECTIVE-3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757608"/>
            <a:ext cx="3068926" cy="406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8C7753"/>
                </a:solidFill>
                <a:latin typeface="Canva Sans"/>
                <a:ea typeface="Canva Sans"/>
                <a:cs typeface="Canva Sans"/>
                <a:sym typeface="Canva Sans"/>
              </a:rPr>
              <a:t>INTERPRETATION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591800"/>
            <a:ext cx="12211581" cy="982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3492" lvl="1" indent="-311746" algn="l">
              <a:lnSpc>
                <a:spcPts val="4043"/>
              </a:lnSpc>
              <a:buAutoNum type="arabicPeriod"/>
            </a:pPr>
            <a:r>
              <a:rPr lang="en-US" sz="2887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Digital learning improves student’s understanding of academic subjects.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156963"/>
            <a:ext cx="15413771" cy="222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677" lvl="1" indent="-274839" algn="l">
              <a:lnSpc>
                <a:spcPts val="3564"/>
              </a:lnSpc>
              <a:buFont typeface="Arial"/>
              <a:buChar char="•"/>
            </a:pPr>
            <a:r>
              <a:rPr lang="en-US" sz="25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students agreed that digital learning improves their understanding of academic subjects.</a:t>
            </a:r>
          </a:p>
          <a:p>
            <a:pPr marL="549677" lvl="1" indent="-274839" algn="l">
              <a:lnSpc>
                <a:spcPts val="3564"/>
              </a:lnSpc>
              <a:buFont typeface="Arial"/>
              <a:buChar char="•"/>
            </a:pPr>
            <a:r>
              <a:rPr lang="en-US" sz="25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that digital learning helps students understand and learn academic concepts more effectively.</a:t>
            </a:r>
          </a:p>
          <a:p>
            <a:pPr algn="ctr">
              <a:lnSpc>
                <a:spcPts val="3564"/>
              </a:lnSpc>
            </a:pPr>
            <a:endParaRPr lang="en-US" sz="254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2714" y="2338902"/>
            <a:ext cx="12032615" cy="4279524"/>
          </a:xfrm>
          <a:custGeom>
            <a:avLst/>
            <a:gdLst/>
            <a:ahLst/>
            <a:cxnLst/>
            <a:rect l="l" t="t" r="r" b="b"/>
            <a:pathLst>
              <a:path w="12032615" h="4279524">
                <a:moveTo>
                  <a:pt x="0" y="0"/>
                </a:moveTo>
                <a:lnTo>
                  <a:pt x="12032615" y="0"/>
                </a:lnTo>
                <a:lnTo>
                  <a:pt x="12032615" y="4279524"/>
                </a:lnTo>
                <a:lnTo>
                  <a:pt x="0" y="4279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57275"/>
            <a:ext cx="284778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OBJECTIVE-4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436573"/>
            <a:ext cx="9855701" cy="51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953" lvl="1" indent="-323977" algn="l">
              <a:lnSpc>
                <a:spcPts val="4201"/>
              </a:lnSpc>
              <a:buAutoNum type="arabicPeriod"/>
            </a:pPr>
            <a:r>
              <a:rPr lang="en-US" sz="3001">
                <a:solidFill>
                  <a:srgbClr val="331B0D"/>
                </a:solidFill>
                <a:latin typeface="Canva Sans"/>
                <a:ea typeface="Canva Sans"/>
                <a:cs typeface="Canva Sans"/>
                <a:sym typeface="Canva Sans"/>
              </a:rPr>
              <a:t>Overall digital learning experience satisfaction.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2714" y="6970851"/>
            <a:ext cx="3036729" cy="406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8C7753"/>
                </a:solidFill>
                <a:latin typeface="Canva Sans"/>
                <a:ea typeface="Canva Sans"/>
                <a:cs typeface="Canva Sans"/>
                <a:sym typeface="Canva Sans"/>
              </a:rPr>
              <a:t>INTERPRETATION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39238" y="4920615"/>
            <a:ext cx="9525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28700" y="7690941"/>
            <a:ext cx="14680049" cy="114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6412" lvl="1" indent="-353206" algn="l">
              <a:lnSpc>
                <a:spcPts val="4580"/>
              </a:lnSpc>
              <a:buFont typeface="Arial"/>
              <a:buChar char="•"/>
            </a:pPr>
            <a:r>
              <a:rPr lang="en-US" sz="327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average satisfaction score is 3.66 out of 5, indicating a generally </a:t>
            </a:r>
          </a:p>
          <a:p>
            <a:pPr algn="l">
              <a:lnSpc>
                <a:spcPts val="4580"/>
              </a:lnSpc>
            </a:pPr>
            <a:r>
              <a:rPr lang="en-US" sz="327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moderate-to-positive digital learning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5079" y="2485129"/>
            <a:ext cx="12262564" cy="3977908"/>
          </a:xfrm>
          <a:custGeom>
            <a:avLst/>
            <a:gdLst/>
            <a:ahLst/>
            <a:cxnLst/>
            <a:rect l="l" t="t" r="r" b="b"/>
            <a:pathLst>
              <a:path w="12262564" h="3977908">
                <a:moveTo>
                  <a:pt x="0" y="0"/>
                </a:moveTo>
                <a:lnTo>
                  <a:pt x="12262564" y="0"/>
                </a:lnTo>
                <a:lnTo>
                  <a:pt x="12262564" y="3977908"/>
                </a:lnTo>
                <a:lnTo>
                  <a:pt x="0" y="3977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57275"/>
            <a:ext cx="284778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OBJECTIVE-4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518949"/>
            <a:ext cx="9642991" cy="46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43" lvl="1" indent="-291471" algn="l">
              <a:lnSpc>
                <a:spcPts val="3780"/>
              </a:lnSpc>
              <a:buAutoNum type="arabicPeriod"/>
            </a:pPr>
            <a:r>
              <a:rPr lang="en-US" sz="2700">
                <a:solidFill>
                  <a:srgbClr val="331B0D"/>
                </a:solidFill>
                <a:latin typeface="Canva Sans"/>
                <a:ea typeface="Canva Sans"/>
                <a:cs typeface="Canva Sans"/>
                <a:sym typeface="Canva Sans"/>
              </a:rPr>
              <a:t>Difficultly to communicate with teachers &amp; classmates.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5079" y="6683844"/>
            <a:ext cx="2956236" cy="406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8C7753"/>
                </a:solidFill>
                <a:latin typeface="Canva Sans"/>
                <a:ea typeface="Canva Sans"/>
                <a:cs typeface="Canva Sans"/>
                <a:sym typeface="Canva Sans"/>
              </a:rPr>
              <a:t>INTERPRETATION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272316"/>
            <a:ext cx="16218867" cy="1177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More than half of the students reported moderate difficulty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in communicating with teachers and classmates during digital 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603488"/>
            <a:ext cx="8191192" cy="5015389"/>
          </a:xfrm>
          <a:custGeom>
            <a:avLst/>
            <a:gdLst/>
            <a:ahLst/>
            <a:cxnLst/>
            <a:rect l="l" t="t" r="r" b="b"/>
            <a:pathLst>
              <a:path w="8191192" h="5015389">
                <a:moveTo>
                  <a:pt x="0" y="0"/>
                </a:moveTo>
                <a:lnTo>
                  <a:pt x="8191192" y="0"/>
                </a:lnTo>
                <a:lnTo>
                  <a:pt x="8191192" y="5015389"/>
                </a:lnTo>
                <a:lnTo>
                  <a:pt x="0" y="5015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60640" y="1603488"/>
            <a:ext cx="7598660" cy="4963331"/>
          </a:xfrm>
          <a:custGeom>
            <a:avLst/>
            <a:gdLst/>
            <a:ahLst/>
            <a:cxnLst/>
            <a:rect l="l" t="t" r="r" b="b"/>
            <a:pathLst>
              <a:path w="7598660" h="4963331">
                <a:moveTo>
                  <a:pt x="0" y="0"/>
                </a:moveTo>
                <a:lnTo>
                  <a:pt x="7598660" y="0"/>
                </a:lnTo>
                <a:lnTo>
                  <a:pt x="7598660" y="4963331"/>
                </a:lnTo>
                <a:lnTo>
                  <a:pt x="0" y="4963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998296" y="6108297"/>
            <a:ext cx="7208740" cy="4163908"/>
          </a:xfrm>
          <a:custGeom>
            <a:avLst/>
            <a:gdLst/>
            <a:ahLst/>
            <a:cxnLst/>
            <a:rect l="l" t="t" r="r" b="b"/>
            <a:pathLst>
              <a:path w="7546810" h="4405386">
                <a:moveTo>
                  <a:pt x="0" y="0"/>
                </a:moveTo>
                <a:lnTo>
                  <a:pt x="7546810" y="0"/>
                </a:lnTo>
                <a:lnTo>
                  <a:pt x="7546810" y="4405385"/>
                </a:lnTo>
                <a:lnTo>
                  <a:pt x="0" y="4405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76325"/>
            <a:ext cx="4597064" cy="32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00"/>
              </a:lnSpc>
              <a:spcBef>
                <a:spcPct val="0"/>
              </a:spcBef>
            </a:pPr>
            <a:r>
              <a:rPr lang="en-US" sz="2500" b="1" spc="25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42963" y="8994140"/>
            <a:ext cx="216337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696608"/>
            <a:ext cx="10910528" cy="173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Thank You.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698616" y="7369021"/>
            <a:ext cx="4560684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sz="2400" b="1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8616" y="7778115"/>
            <a:ext cx="4560684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Ajmat Fatima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Harika Tirandas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Asiya Khan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Alisha Shaikh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066800"/>
            <a:ext cx="6010437" cy="234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45"/>
              </a:lnSpc>
              <a:spcBef>
                <a:spcPct val="0"/>
              </a:spcBef>
            </a:pPr>
            <a:r>
              <a:rPr lang="en-US" sz="1845" b="1" spc="184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PROBABILITY &amp; STATISTICS MINI PROJECT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02DF53DF99D341BF6706E09B51ADF9" ma:contentTypeVersion="12" ma:contentTypeDescription="Create a new document." ma:contentTypeScope="" ma:versionID="9c0061c05ea744d894384e3151186dce">
  <xsd:schema xmlns:xsd="http://www.w3.org/2001/XMLSchema" xmlns:xs="http://www.w3.org/2001/XMLSchema" xmlns:p="http://schemas.microsoft.com/office/2006/metadata/properties" xmlns:ns2="159785cd-b00f-443b-955f-30b0c9a00455" xmlns:ns3="cc7603cc-5f9a-43ef-ab77-a2c05699f9f4" targetNamespace="http://schemas.microsoft.com/office/2006/metadata/properties" ma:root="true" ma:fieldsID="17b87870b262ef85a2675756d2b8c0d6" ns2:_="" ns3:_="">
    <xsd:import namespace="159785cd-b00f-443b-955f-30b0c9a00455"/>
    <xsd:import namespace="cc7603cc-5f9a-43ef-ab77-a2c05699f9f4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9785cd-b00f-443b-955f-30b0c9a00455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4ceeff53-16f0-4e5c-aaf1-1892fffea6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603cc-5f9a-43ef-ab77-a2c05699f9f4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98dbfab1-83e4-49ab-8577-885bb7508945}" ma:internalName="TaxCatchAll" ma:showField="CatchAllData" ma:web="cc7603cc-5f9a-43ef-ab77-a2c05699f9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9785cd-b00f-443b-955f-30b0c9a00455">
      <Terms xmlns="http://schemas.microsoft.com/office/infopath/2007/PartnerControls"/>
    </lcf76f155ced4ddcb4097134ff3c332f>
    <ReferenceId xmlns="159785cd-b00f-443b-955f-30b0c9a00455" xsi:nil="true"/>
    <TaxCatchAll xmlns="cc7603cc-5f9a-43ef-ab77-a2c05699f9f4" xsi:nil="true"/>
  </documentManagement>
</p:properties>
</file>

<file path=customXml/itemProps1.xml><?xml version="1.0" encoding="utf-8"?>
<ds:datastoreItem xmlns:ds="http://schemas.openxmlformats.org/officeDocument/2006/customXml" ds:itemID="{C402BA53-481C-4933-9565-9ACC65D821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355B33-EDA6-4206-9B5D-2C718B0A9AB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59785cd-b00f-443b-955f-30b0c9a00455"/>
    <ds:schemaRef ds:uri="cc7603cc-5f9a-43ef-ab77-a2c05699f9f4"/>
  </ds:schemaRefs>
</ds:datastoreItem>
</file>

<file path=customXml/itemProps3.xml><?xml version="1.0" encoding="utf-8"?>
<ds:datastoreItem xmlns:ds="http://schemas.openxmlformats.org/officeDocument/2006/customXml" ds:itemID="{36E01F9C-EF87-4E7E-93C1-459FDB468158}">
  <ds:schemaRefs>
    <ds:schemaRef ds:uri="http://schemas.microsoft.com/office/2006/metadata/properties"/>
    <ds:schemaRef ds:uri="http://www.w3.org/2000/xmlns/"/>
    <ds:schemaRef ds:uri="159785cd-b00f-443b-955f-30b0c9a00455"/>
    <ds:schemaRef ds:uri="http://schemas.microsoft.com/office/infopath/2007/PartnerControls"/>
    <ds:schemaRef ds:uri="http://www.w3.org/2001/XMLSchema-instance"/>
    <ds:schemaRef ds:uri="cc7603cc-5f9a-43ef-ab77-a2c05699f9f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 MINI PROJECT DIGITAL LEARNING EXPERIENCE</dc:title>
  <cp:lastModifiedBy>Asiya Khan</cp:lastModifiedBy>
  <cp:revision>50</cp:revision>
  <dcterms:created xsi:type="dcterms:W3CDTF">2006-08-16T00:00:00Z</dcterms:created>
  <dcterms:modified xsi:type="dcterms:W3CDTF">2026-09-24T06:26:44Z</dcterms:modified>
  <dc:identifier>DAHWBX9rCvE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0x0101007B02DF53DF99D341BF6706E09B51ADF9</vt:lpwstr>
  </property>
  <property fmtid="{D5CDD505-2E9C-101B-9397-08002B2CF9AE}" pid="3" name="MediaServiceImageTags">
    <vt:lpwstr/>
  </property>
</Properties>
</file>